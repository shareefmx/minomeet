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8FAFC"/>
                </a:solidFill>
                <a:latin typeface="Helvetica"/>
              </a:defRPr>
            </a:pPr>
            <a:r>
              <a:t>⚡ MINOMEET AI</a:t>
            </a:r>
          </a:p>
          <a:p>
            <a:pPr>
              <a:spcAft>
                <a:spcPts val="1800"/>
              </a:spcAft>
              <a:defRPr sz="2000" b="1">
                <a:solidFill>
                  <a:srgbClr val="0EA5E9"/>
                </a:solidFill>
                <a:latin typeface="Helvetica"/>
              </a:defRPr>
            </a:pPr>
            <a:r>
              <a:t>Autonomous On-Device &amp; Cloud Meeting Intelligence • Minutes of Meeting (MOM) Assistant</a:t>
            </a:r>
          </a:p>
          <a:p>
            <a:pPr>
              <a:spcAft>
                <a:spcPts val="3600"/>
              </a:spcAft>
              <a:defRPr sz="1300">
                <a:solidFill>
                  <a:srgbClr val="CBD5E1"/>
                </a:solidFill>
                <a:latin typeface="Arial"/>
              </a:defRPr>
            </a:pPr>
            <a:r>
              <a:t>Zero-Bot Audio Capture • Real-Time Neural Transcription • Structured Executive Summaries • Action Item Matrices • 100% Privacy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Founder: Muhammed Shareef (@shareefmx)   |   Track: Enterprise Operations &amp; Sales AI   |   Status: Production v1.2.0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OVERVIEW &amp; VALUE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Executive Thesis &amp; Submission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🛡️ Zero-Bot, 100% Privacy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Unlike cloud SaaS note-takers that inject awkward bots into meetings and beam private audio to external clouds, Minomeet runs locally with optional on-device SLMs (Ollama) so zero sensitive enterprise data ever leaves the perimeter.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🧠 Multi-Model AI Hub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Vendor-agnostic dynamic model resolution layer that seamlessly bridges offline local models (Llama 3.3, Qwen 2.5, DeepSeek) with frontier cloud APIs (Gemini 2.5, Claude 3.7 Sonnet, GPT-4o, Groq LPUs).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📋 Actionable Deliverables</a:t>
            </a:r>
          </a:p>
          <a:p>
            <a:pPr>
              <a:lnSpc>
                <a:spcPct val="130000"/>
              </a:lnSpc>
              <a:defRPr sz="1200">
                <a:solidFill>
                  <a:srgbClr val="64748B"/>
                </a:solidFill>
                <a:latin typeface="Arial"/>
              </a:defRPr>
            </a:pPr>
            <a:r>
              <a:t>Moves beyond unstructured transcripts to synthesize executive decision logs, assigned action item matrices, 1-click tailored follow-up emails, and cross-meeting semantic Q&amp;A knowledge graphs.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STARTUP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Startup Snapshot: What We Do &amp; Progress Milestones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Helvetica"/>
              </a:defRPr>
            </a:pPr>
            <a:r>
              <a:t>🎯 What Does Minomeet Do?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Autonomous Meeting Copilot: </a:t>
            </a:r>
            <a:r>
              <a:rPr b="0">
                <a:solidFill>
                  <a:srgbClr val="64748B"/>
                </a:solidFill>
              </a:rPr>
              <a:t>Captures dual-channel audio (microphone + meeting participants from Zoom, Meet, Teams, Slack) without awkward bots.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Real-Time Neural Diarization: </a:t>
            </a:r>
            <a:r>
              <a:rPr b="0">
                <a:solidFill>
                  <a:srgbClr val="64748B"/>
                </a:solidFill>
              </a:rPr>
              <a:t>Transcribes speech in real time with high accuracy using local Whisper and neural speech models.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Executive MOM Synthesis: </a:t>
            </a:r>
            <a:r>
              <a:rPr b="0">
                <a:solidFill>
                  <a:srgbClr val="64748B"/>
                </a:solidFill>
              </a:rPr>
              <a:t>Generates structured Executive Summaries, Key Decisions, Action Item matrices, and follow-up emails in seconds.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100% Privacy Guarantee: </a:t>
            </a:r>
            <a:r>
              <a:rPr b="0">
                <a:solidFill>
                  <a:srgbClr val="64748B"/>
                </a:solidFill>
              </a:rPr>
              <a:t>Supports full on-device execution with Ollama &amp; local SLMs for zero-cloud data isolation.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Helvetica"/>
              </a:defRPr>
            </a:pPr>
            <a:r>
              <a:t>🚀 Key Progress Milestones So Far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✔ v1.2.0 Production Release: </a:t>
            </a:r>
            <a:r>
              <a:rPr b="0">
                <a:solidFill>
                  <a:srgbClr val="64748B"/>
                </a:solidFill>
              </a:rPr>
              <a:t>Full-stack web application (React 18 + Node/Express + TypeScript) with low-latency WebSocket audio streaming.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✔ Universal Deployment Support: </a:t>
            </a:r>
            <a:r>
              <a:rPr b="0">
                <a:solidFill>
                  <a:srgbClr val="64748B"/>
                </a:solidFill>
              </a:rPr>
              <a:t>Global CLI (minomeet + 'o' key), Docker &amp; Docker Compose containerization, and standalone dev modes.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✔ Multi-Model Provider Matrix: </a:t>
            </a:r>
            <a:r>
              <a:rPr b="0">
                <a:solidFill>
                  <a:srgbClr val="64748B"/>
                </a:solidFill>
              </a:rPr>
              <a:t>Integrated with 6+ AI engines: Google Gemini 2.5, OpenAI GPT-4o, Claude 3.7, Groq LPUs, Ollama, and custom vLLM servers.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✔ Open-Source Validation: </a:t>
            </a:r>
            <a:r>
              <a:rPr b="0">
                <a:solidFill>
                  <a:srgbClr val="64748B"/>
                </a:solidFill>
              </a:rPr>
              <a:t>Active public GitHub repo, full YouTube demo walkthrough, and automated release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Problem Understanding: Meeting Friction &amp; The Privacy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⏳ Massive Cognitive &amp; Time Drain</a:t>
            </a:r>
          </a:p>
          <a:p>
            <a:pPr>
              <a:spcAft>
                <a:spcPts val="1000"/>
              </a:spcAft>
              <a:defRPr b="1" sz="1100">
                <a:solidFill>
                  <a:srgbClr val="DC2626"/>
                </a:solidFill>
              </a:defRPr>
            </a:pPr>
            <a:r>
              <a:t>❌ 31+ Hours Wasted Monthly: </a:t>
            </a:r>
            <a:r>
              <a:rPr b="0">
                <a:solidFill>
                  <a:srgbClr val="64748B"/>
                </a:solidFill>
              </a:rPr>
              <a:t>Knowledge workers spend 25-40% of their work week in meetings with post-meeting note fatigue.</a:t>
            </a:r>
          </a:p>
          <a:p>
            <a:pPr>
              <a:spcAft>
                <a:spcPts val="1000"/>
              </a:spcAft>
              <a:defRPr b="1" sz="1100">
                <a:solidFill>
                  <a:srgbClr val="DC2626"/>
                </a:solidFill>
              </a:defRPr>
            </a:pPr>
            <a:r>
              <a:t>❌ Lost Action Items: </a:t>
            </a:r>
            <a:r>
              <a:rPr b="0">
                <a:solidFill>
                  <a:srgbClr val="64748B"/>
                </a:solidFill>
              </a:rPr>
              <a:t>70% of meeting decisions, deliverables, and commitments are lost, forgotten, or poorly documented in manual notes.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  <a:latin typeface="Helvetica"/>
              </a:defRPr>
            </a:pPr>
            <a:r>
              <a:t>🔒 Cloud Compliance &amp; Privacy Roadblock</a:t>
            </a:r>
          </a:p>
          <a:p>
            <a:pPr>
              <a:spcAft>
                <a:spcPts val="1000"/>
              </a:spcAft>
              <a:defRPr b="1" sz="1100">
                <a:solidFill>
                  <a:srgbClr val="DC2626"/>
                </a:solidFill>
              </a:defRPr>
            </a:pPr>
            <a:r>
              <a:t>❌ SaaS Bot Rejection: </a:t>
            </a:r>
            <a:r>
              <a:rPr b="0">
                <a:solidFill>
                  <a:srgbClr val="64748B"/>
                </a:solidFill>
              </a:rPr>
              <a:t>Financial institutions (BFSI), legal counsel, and healthcare firms are legally barred from sending voice streams to 3rd-party clouds.</a:t>
            </a:r>
          </a:p>
          <a:p>
            <a:pPr>
              <a:spcAft>
                <a:spcPts val="1000"/>
              </a:spcAft>
              <a:defRPr b="1" sz="1100">
                <a:solidFill>
                  <a:srgbClr val="DC2626"/>
                </a:solidFill>
              </a:defRPr>
            </a:pPr>
            <a:r>
              <a:t>❌ Firewall &amp; Client Resistance: </a:t>
            </a:r>
            <a:r>
              <a:rPr b="0">
                <a:solidFill>
                  <a:srgbClr val="64748B"/>
                </a:solidFill>
              </a:rPr>
              <a:t>Intrusive cloud bots ('Otter.ai has joined') are rejected by clients and blocked by corporate IT security policies.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CUSTOMER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Ideal Customer Profile &amp; Market Sizing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4F46E5"/>
                </a:solidFill>
                <a:latin typeface="Helvetica"/>
              </a:defRPr>
            </a:pPr>
            <a:r>
              <a:t>🎯 Ideal Customer Profile (ICP)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Regulated Enterprises (BFSI / Legal / Health): </a:t>
            </a:r>
            <a:r>
              <a:rPr b="0">
                <a:solidFill>
                  <a:srgbClr val="64748B"/>
                </a:solidFill>
              </a:rPr>
              <a:t>Teams handling confidential financial, legal, and client data that require on-premise/on-device privacy.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B2B Sales &amp; GTM Teams: </a:t>
            </a:r>
            <a:r>
              <a:rPr b="0">
                <a:solidFill>
                  <a:srgbClr val="64748B"/>
                </a:solidFill>
              </a:rPr>
              <a:t>Account executives needing zero-overhead post-call CRM logging and 1-click tailored email follow-ups.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Engineering &amp; Product Leads: </a:t>
            </a:r>
            <a:r>
              <a:rPr b="0">
                <a:solidFill>
                  <a:srgbClr val="64748B"/>
                </a:solidFill>
              </a:rPr>
              <a:t>Distributed engineering teams running daily standups, sprint planning, and architecture syncs.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</a:defRPr>
            </a:pPr>
            <a:r>
              <a:t>• Economic Buyers: </a:t>
            </a:r>
            <a:r>
              <a:rPr b="0">
                <a:solidFill>
                  <a:srgbClr val="64748B"/>
                </a:solidFill>
              </a:rPr>
              <a:t>CTOs, CISOs, Heads of Sales Operations, VP of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  <a:latin typeface="Helvetica"/>
              </a:defRPr>
            </a:pPr>
            <a:r>
              <a:t>📊 Market Size &amp; Opportunity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💰 TAM: $18.4 Billion</a:t>
            </a:r>
            <a:br/>
            <a:r>
              <a:rPr b="0" sz="1100">
                <a:solidFill>
                  <a:srgbClr val="64748B"/>
                </a:solidFill>
              </a:rPr>
              <a:t>Global Conversational AI and Enterprise Meeting Intelligence market (growing at 21.8% CAGR).
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💰 SAM: $4.2 Billion</a:t>
            </a:r>
            <a:br/>
            <a:r>
              <a:rPr b="0" sz="1100">
                <a:solidFill>
                  <a:srgbClr val="64748B"/>
                </a:solidFill>
              </a:rPr>
              <a:t>Privacy-first &amp; on-premise enterprise workplace productivity and transcription software.
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💰 SOM: $180 Million</a:t>
            </a:r>
            <a:br/>
            <a:r>
              <a:rPr b="0" sz="1100">
                <a:solidFill>
                  <a:srgbClr val="64748B"/>
                </a:solidFill>
              </a:rPr>
              <a:t>Regulated B2B mid-market and enterprise teams seeking zero-bot, self-hosted meeting intelligence in next 3 years.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Solution Overview: Core Product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🎙️ Dual-Channel Audio Ingestion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Captures microphone + system audio (Meet, Zoom, Teams, Slack Huddles, Browser tabs) or imports .mp3/.wav files directly with zero bot invitations.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📋 Executive MOM &amp; Decision Matrix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Extracts strategic summaries, key agreed decisions with rationales, discussion highlights, and next step roadmaps.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✅ Action Items &amp; Deliverables Matrix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Automatically tags action deliverables with assigned owners, context, and deadlines, keeping distributed teams fully accountable.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33832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💬 'Ask Your Meetings' Semantic Q&amp;A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Cross-meeting semantic search assistant that answers questions across historical meetings in natural language.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3832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✉️ 1-Click Follow-Up Email Drafts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Generates tailored email recaps in Professional, Concise, or Action-Oriented formats formatted for instant delivery.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886200"/>
            <a:ext cx="33832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69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⚡ 100% Privacy &amp; Local SLMs</a:t>
            </a:r>
          </a:p>
          <a:p>
            <a:pPr>
              <a:lnSpc>
                <a:spcPct val="120000"/>
              </a:lnSpc>
              <a:defRPr sz="1050">
                <a:solidFill>
                  <a:srgbClr val="64748B"/>
                </a:solidFill>
                <a:latin typeface="Arial"/>
              </a:defRPr>
            </a:pPr>
            <a:r>
              <a:t>Full offline support with Ollama (Llama 3.3, DeepSeek, Qwen) and on-device Whisper, ensuring 0%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TECHNOLOGY &amp;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End-to-End Technology &amp; Multi-Model AI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4F46E5"/>
                </a:solidFill>
                <a:latin typeface="Helvetica"/>
              </a:defRPr>
            </a:pPr>
            <a:r>
              <a:t>⚡ End-to-End Data Pipeline:</a:t>
            </a:r>
          </a:p>
          <a:p>
            <a:pPr>
              <a:defRPr sz="1100" b="1">
                <a:solidFill>
                  <a:srgbClr val="0F172A"/>
                </a:solidFill>
                <a:latin typeface="Arial"/>
              </a:defRPr>
            </a:pPr>
            <a:r>
              <a:t>[Dual Audio Ingestion] ➔ [Web Audio API Chunker] ➔ [Neural Whisper STT] ➔ [Dynamic AI Model Resolver] ➔ [Self-Healing JSON Parser] ➔ [Executive MOM + Action Matrix + Semantic Graph]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12064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F46E5"/>
                </a:solidFill>
                <a:latin typeface="Helvetica"/>
              </a:defRPr>
            </a:pPr>
            <a:r>
              <a:t>🧠 Dynamic Multi-Model AI Resolution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Single Source of Truth: Plug-and-play AI model routing across Ollama, Gemini 2.5, Claude 3.7, GPT-4o, and Groq LPUs.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Auto-Discovery: Automatically detects and lists models on self-hosted vLLM or LM Studio servers.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• Self-Healing JSON Engine: Robust schema parser ensures zero hallucinations in generated Action Items and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  <a:latin typeface="Helvetica"/>
              </a:defRPr>
            </a:pPr>
            <a:r>
              <a:t>💻 Full-Stack Production Engineering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✔ Frontend: React 18, TypeScript, Tailwind CSS, Lucide Icons, Vite 6.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✔ Backend API: Node.js, Express, WebSocket streaming ('ws'), TypeScript.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✔ Speech Engine: OpenAI Whisper Neural STT, Web Audio API, FFmpeg.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✔ Deployment: Global Terminal CLI ('minomeet'), Docker &amp; Docker Compose.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Competitive Advantage: Why Minomeet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Helvetica"/>
              </a:defRPr>
            </a:pPr>
            <a:r>
              <a:t>🥊 Feature Comparison vs Existing Alternatives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Zero-Bot Audio Capture: </a:t>
            </a:r>
            <a:r>
              <a:rPr b="1">
                <a:solidFill>
                  <a:srgbClr val="10B981"/>
                </a:solidFill>
              </a:rPr>
              <a:t>Minomeet (✔)  vs  </a:t>
            </a:r>
            <a:r>
              <a:rPr>
                <a:solidFill>
                  <a:srgbClr val="64748B"/>
                </a:solidFill>
              </a:rPr>
              <a:t>Otter / Fireflies (❌ Bot Required)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100% Offline Local LLMs: </a:t>
            </a:r>
            <a:r>
              <a:rPr b="1">
                <a:solidFill>
                  <a:srgbClr val="10B981"/>
                </a:solidFill>
              </a:rPr>
              <a:t>Minomeet (✔ Ollama)  vs  </a:t>
            </a:r>
            <a:r>
              <a:rPr>
                <a:solidFill>
                  <a:srgbClr val="64748B"/>
                </a:solidFill>
              </a:rPr>
              <a:t>Otter / Fathom (❌ Cloud Only)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Zero Cloud Telemetry: </a:t>
            </a:r>
            <a:r>
              <a:rPr b="1">
                <a:solidFill>
                  <a:srgbClr val="10B981"/>
                </a:solidFill>
              </a:rPr>
              <a:t>Minomeet (✔ Private)  vs  </a:t>
            </a:r>
            <a:r>
              <a:rPr>
                <a:solidFill>
                  <a:srgbClr val="64748B"/>
                </a:solidFill>
              </a:rPr>
              <a:t>Competitors (❌ 3rd Party Clouds)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Multi-Model Routing Hub: </a:t>
            </a:r>
            <a:r>
              <a:rPr b="1">
                <a:solidFill>
                  <a:srgbClr val="10B981"/>
                </a:solidFill>
              </a:rPr>
              <a:t>Minomeet (✔ 6+ Engines)  vs  </a:t>
            </a:r>
            <a:r>
              <a:rPr>
                <a:solidFill>
                  <a:srgbClr val="64748B"/>
                </a:solidFill>
              </a:rPr>
              <a:t>Competitors (❌ Single Vendor)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Cross-Platform Audio: </a:t>
            </a:r>
            <a:r>
              <a:rPr b="1">
                <a:solidFill>
                  <a:srgbClr val="10B981"/>
                </a:solidFill>
              </a:rPr>
              <a:t>Minomeet (✔ Any App)  vs  </a:t>
            </a:r>
            <a:r>
              <a:rPr>
                <a:solidFill>
                  <a:srgbClr val="64748B"/>
                </a:solidFill>
              </a:rPr>
              <a:t>Zoom AI (❌ Zoom Only)</a:t>
            </a:r>
          </a:p>
          <a:p>
            <a:pPr>
              <a:spcAft>
                <a:spcPts val="400"/>
              </a:spcAft>
              <a:defRPr b="1" sz="1000">
                <a:solidFill>
                  <a:srgbClr val="0F172A"/>
                </a:solidFill>
              </a:defRPr>
            </a:pPr>
            <a:r>
              <a:t>• Global CLI &amp; Docker: </a:t>
            </a:r>
            <a:r>
              <a:rPr b="1">
                <a:solidFill>
                  <a:srgbClr val="10B981"/>
                </a:solidFill>
              </a:rPr>
              <a:t>Minomeet (✔ Included)  vs  </a:t>
            </a:r>
            <a:r>
              <a:rPr>
                <a:solidFill>
                  <a:srgbClr val="64748B"/>
                </a:solidFill>
              </a:rPr>
              <a:t>Competitors (❌ Proprietary)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EA5E9"/>
                </a:solidFill>
                <a:latin typeface="Helvetica"/>
              </a:defRPr>
            </a:pPr>
            <a:r>
              <a:t>🛡️ Why We Win Against Foundation Model Giants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✔ Audio Ingestion Moat:</a:t>
            </a:r>
            <a:br/>
            <a:r>
              <a:rPr sz="1000">
                <a:solidFill>
                  <a:srgbClr val="64748B"/>
                </a:solidFill>
              </a:rPr>
              <a:t>OpenAI/Anthropic only sell raw LLM APIs; they do not solve OS-level dual-stream audio capture, loopback mixing, or local file synchronization.
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✔ Privacy Autonomy:</a:t>
            </a:r>
            <a:br/>
            <a:r>
              <a:rPr sz="1000">
                <a:solidFill>
                  <a:srgbClr val="64748B"/>
                </a:solidFill>
              </a:rPr>
              <a:t>Enterprises choose Minomeet specifically because it does NOT lock them into transmitting sensitive voice data to OpenAI or Google clouds.
</a:t>
            </a:r>
          </a:p>
          <a:p>
            <a:pPr>
              <a:spcAft>
                <a:spcPts val="400"/>
              </a:spcAft>
              <a:defRPr b="1" sz="1100">
                <a:solidFill>
                  <a:srgbClr val="0F172A"/>
                </a:solidFill>
              </a:defRPr>
            </a:pPr>
            <a:r>
              <a:t>✔ Compounding Memory Graph:</a:t>
            </a:r>
            <a:br/>
            <a:r>
              <a:rPr sz="1000">
                <a:solidFill>
                  <a:srgbClr val="64748B"/>
                </a:solidFill>
              </a:rPr>
              <a:t>Minomeet's local semantic knowledge graph retains cross-meeting decision histories that single API calls cannot replicate.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VISION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Strategic Vision &amp; 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Phase 1: Foundation (Live)</a:t>
            </a:r>
          </a:p>
          <a:p>
            <a:pPr>
              <a:spcAft>
                <a:spcPts val="1200"/>
              </a:spcAft>
              <a:defRPr sz="1000" b="1">
                <a:solidFill>
                  <a:srgbClr val="4F46E5"/>
                </a:solidFill>
                <a:latin typeface="Arial"/>
              </a:defRPr>
            </a:pPr>
            <a:r>
              <a:t>v1.2.0 - Current Milestone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Dual-channel audio capture &amp; live transcription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Executive MOM &amp; Action Items Matrix synthesis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Multi-model provider hub (Ollama, Gemini, Claude, GPT)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Global CLI ('minomeet') &amp; Docker Compose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Phase 2: Enterprise Pilot</a:t>
            </a:r>
          </a:p>
          <a:p>
            <a:pPr>
              <a:spcAft>
                <a:spcPts val="1200"/>
              </a:spcAft>
              <a:defRPr sz="1000" b="1">
                <a:solidFill>
                  <a:srgbClr val="0EA5E9"/>
                </a:solidFill>
                <a:latin typeface="Arial"/>
              </a:defRPr>
            </a:pPr>
            <a:r>
              <a:t>Next 3–6 Months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1-Click Jira, Linear, and Slack action item integration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Sub-200ms lightweight quantized on-device SLM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Live in-meeting contextual decision prompts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Enterprise pilot deployments in BFSI &amp; Consulting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F172A"/>
                </a:solidFill>
                <a:latin typeface="Helvetica"/>
              </a:defRPr>
            </a:pPr>
            <a:r>
              <a:t>Phase 3: Autonomous Memory</a:t>
            </a:r>
          </a:p>
          <a:p>
            <a:pPr>
              <a:spcAft>
                <a:spcPts val="12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6–18 Months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Multi-tenant team workspaces with RBAC &amp; audit logs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Autonomous Organizational Decision Graph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Proactive project risk &amp; commitment tracking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Enterprise SOC-2 / ISO-27001 compliance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Founding Team &amp; Technical Capability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F46E5"/>
                </a:solidFill>
                <a:latin typeface="Helvetica"/>
              </a:defRPr>
            </a:pPr>
            <a:r>
              <a:t>👨‍💻 Founder &amp; Lead Architect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  <a:latin typeface="Helvetica"/>
              </a:defRPr>
            </a:pPr>
            <a:r>
              <a:t>Muhammed Shareef (@shareefmx)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Full-Stack AI Software Engineer &amp; Open-Source Builder.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Core expertise in TypeScript, React, Node.js, Web Audio APIs, distributed multi-model AI routing, and local SLM quantization.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Single-handedly architected and delivered Minomeet AI from ground-up (frontend, backend, WebSockets, CLI runner, Docker containers).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</a:defRPr>
            </a:pPr>
            <a:r>
              <a:t>• Passionate about privacy-first computing, zero-trust enterprise tooling, and developer productivity.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Helvetica"/>
              </a:defRPr>
            </a:pPr>
            <a:r>
              <a:t>⚡ Why We Are Uniquely Positioned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Full Stack &amp; AI Mastery:</a:t>
            </a:r>
            <a:br/>
            <a:r>
              <a:rPr sz="1000">
                <a:solidFill>
                  <a:srgbClr val="64748B"/>
                </a:solidFill>
              </a:rPr>
              <a:t>Direct mastery across the entire vertical stack—from low-level OS audio capture to frontier LLM orchestration.
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Speed of Execution:</a:t>
            </a:r>
            <a:br/>
            <a:r>
              <a:rPr sz="1000">
                <a:solidFill>
                  <a:srgbClr val="64748B"/>
                </a:solidFill>
              </a:rPr>
              <a:t>Shipped production releases (v1.0.0 through v1.2.0) with rapid feature velocity, multi-model support, and Docker deployments in days.
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Zero Wrapper Dependency:</a:t>
            </a:r>
            <a:br/>
            <a:r>
              <a:rPr sz="1000">
                <a:solidFill>
                  <a:srgbClr val="64748B"/>
                </a:solidFill>
              </a:rPr>
              <a:t>Built with custom self-healing JSON parsers, direct WebSocket streams, and native model adapters without reliance on brittle 3rd-party SaaS wrappers.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WHY BITSOM VERTEX?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Why BITSoM Vertex &amp; Growth Acceleration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4F46E5"/>
                </a:solidFill>
                <a:latin typeface="Helvetica"/>
              </a:defRPr>
            </a:pPr>
            <a:r>
              <a:t>🚀 Why BITSoM Vertex?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Enterprise Design Partners:</a:t>
            </a:r>
            <a:br/>
            <a:r>
              <a:rPr sz="1050">
                <a:solidFill>
                  <a:srgbClr val="64748B"/>
                </a:solidFill>
              </a:rPr>
              <a:t>Access to BITSoM's premier corporate network to pilot Minomeet with enterprise clients in BFSI, IT Services, and Consulting.
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B2B GTM &amp; Enterprise Mentorship:</a:t>
            </a:r>
            <a:br/>
            <a:r>
              <a:rPr sz="1050">
                <a:solidFill>
                  <a:srgbClr val="64748B"/>
                </a:solidFill>
              </a:rPr>
              <a:t>Guidance on enterprise sales cycles, pricing models (hybrid on-prem + cloud), and enterprise compliance.
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• Institutional Investor Access:</a:t>
            </a:r>
            <a:br/>
            <a:r>
              <a:rPr sz="1050">
                <a:solidFill>
                  <a:srgbClr val="64748B"/>
                </a:solidFill>
              </a:rPr>
              <a:t>Connecting with visionary venture capital and angel networks focused on B2B AI and enterprise workplace software.
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  <a:latin typeface="Helvetica"/>
              </a:defRPr>
            </a:pPr>
            <a:r>
              <a:t>🎯 Growth Challenges We Aim to Solve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Enterprise Pilot Conversion:</a:t>
            </a:r>
            <a:br/>
            <a:r>
              <a:rPr sz="1050">
                <a:solidFill>
                  <a:srgbClr val="64748B"/>
                </a:solidFill>
              </a:rPr>
              <a:t>Converting active open-source interest into structured paid enterprise proof-of-concepts (PoCs).
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Enterprise Compliance Frameworks:</a:t>
            </a:r>
            <a:br/>
            <a:r>
              <a:rPr sz="1050">
                <a:solidFill>
                  <a:srgbClr val="64748B"/>
                </a:solidFill>
              </a:rPr>
              <a:t>Implementing SOC-2 Type II, ISO-27001, and HIPAA readiness for multi-tenant enterprise deployments.
</a:t>
            </a:r>
          </a:p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</a:defRPr>
            </a:pPr>
            <a:r>
              <a:t>✔ GTM &amp; Sales Team Building:</a:t>
            </a:r>
            <a:br/>
            <a:r>
              <a:rPr sz="1050">
                <a:solidFill>
                  <a:srgbClr val="64748B"/>
                </a:solidFill>
              </a:rPr>
              <a:t>Scaling go-to-market channels, developer evangelism, and strategic enterprise partnerships.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Helvetica"/>
              </a:defRPr>
            </a:pPr>
            <a:r>
              <a:t>SUPPORTING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t>Supporting Material &amp; Live Proof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📺 YouTube Product Demo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Watch Minomeet AI in action (Full Walkthrough): </a:t>
            </a:r>
            <a:r>
              <a:rPr b="1">
                <a:solidFill>
                  <a:srgbClr val="4F46E5"/>
                </a:solidFill>
              </a:rPr>
              <a:t>https://youtu.be/2RuGooHVJUE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💻 GitHub Repository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Complete open-source codebase &amp; release history: </a:t>
            </a:r>
            <a:r>
              <a:rPr b="1">
                <a:solidFill>
                  <a:srgbClr val="4F46E5"/>
                </a:solidFill>
              </a:rPr>
              <a:t>https://github.com/shareefmx/minomeet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5212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🐳 Docker Hub / Compose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1-Command Production Deployment on Localhost: </a:t>
            </a:r>
            <a:r>
              <a:rPr b="1">
                <a:solidFill>
                  <a:srgbClr val="4F46E5"/>
                </a:solidFill>
              </a:rPr>
              <a:t>docker compose up -d (Port 5001)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⌨️ Global CLI Binary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Run anywhere casually in terminal with interactive 'o': </a:t>
            </a:r>
            <a:r>
              <a:rPr b="1">
                <a:solidFill>
                  <a:srgbClr val="4F46E5"/>
                </a:solidFill>
              </a:rPr>
              <a:t>npm link ➔ minomeet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5212080" cy="7315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🐛 Issue Tracker &amp; Roadmap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Public community issues and active feature backlog: </a:t>
            </a:r>
            <a:r>
              <a:rPr b="1">
                <a:solidFill>
                  <a:srgbClr val="4F46E5"/>
                </a:solidFill>
              </a:rPr>
              <a:t>https://github.com/shareefmx/minomeet/issues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4572000"/>
            <a:ext cx="52120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7091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F172A"/>
                </a:solidFill>
                <a:latin typeface="Helvetica"/>
              </a:defRPr>
            </a:pPr>
            <a:r>
              <a:t>👤 Founder Profile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Muhammed Shareef GitHub Profile &amp; Contact: </a:t>
            </a:r>
            <a:r>
              <a:rPr b="1">
                <a:solidFill>
                  <a:srgbClr val="4F46E5"/>
                </a:solidFill>
              </a:rPr>
              <a:t>https://github.com/shareefmx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0" cy="50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8FAFC"/>
                </a:solidFill>
                <a:latin typeface="Helvetica"/>
              </a:defRPr>
            </a:pPr>
            <a:r>
              <a:t>Thank You!</a:t>
            </a:r>
          </a:p>
          <a:p>
            <a:pPr>
              <a:spcAft>
                <a:spcPts val="2000"/>
              </a:spcAft>
              <a:defRPr sz="2200" b="1">
                <a:solidFill>
                  <a:srgbClr val="0EA5E9"/>
                </a:solidFill>
                <a:latin typeface="Helvetica"/>
              </a:defRPr>
            </a:pPr>
            <a:r>
              <a:t>Minomeet AI — Every Word Captured. Every Decision Structured.</a:t>
            </a:r>
          </a:p>
          <a:p>
            <a:pPr>
              <a:spcAft>
                <a:spcPts val="3000"/>
              </a:spcAft>
              <a:defRPr sz="1400">
                <a:solidFill>
                  <a:srgbClr val="CBD5E1"/>
                </a:solidFill>
                <a:latin typeface="Arial"/>
              </a:defRPr>
            </a:pPr>
            <a:r>
              <a:t>Empowering the next generation of autonomous, privacy-first enterprise meeting intelligence.</a:t>
            </a:r>
            <a:br/>
            <a:r>
              <a:t>Let's build the future of workplace productivity together.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GitHub: github.com/shareefmx/minomeet   |   Demo: youtu.be/2RuGooHVJUE   |   Founder: @shareefmx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